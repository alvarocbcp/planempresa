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5/17/2021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5/17/2021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5/17/2021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5/17/2021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5/17/2021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5/17/2021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5/17/2021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DBF9CE-D9BB-48A7-9078-8BE69C8AB4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5480" y="2480606"/>
            <a:ext cx="4943826" cy="867431"/>
          </a:xfrm>
        </p:spPr>
        <p:txBody>
          <a:bodyPr>
            <a:normAutofit/>
          </a:bodyPr>
          <a:lstStyle/>
          <a:p>
            <a:r>
              <a:rPr lang="es-ES" sz="5400" dirty="0"/>
              <a:t>VIRTUAL WALLET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77FF950-537B-4D18-AB2A-CB9E878CB5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5480" y="3348037"/>
            <a:ext cx="2636853" cy="466623"/>
          </a:xfrm>
        </p:spPr>
        <p:txBody>
          <a:bodyPr/>
          <a:lstStyle/>
          <a:p>
            <a:r>
              <a:rPr lang="es-ES" dirty="0"/>
              <a:t>El futuro es digital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CDCAB64-6CF6-4E68-861B-B14197BA395B}"/>
              </a:ext>
            </a:extLst>
          </p:cNvPr>
          <p:cNvSpPr txBox="1"/>
          <p:nvPr/>
        </p:nvSpPr>
        <p:spPr>
          <a:xfrm>
            <a:off x="5511567" y="6274965"/>
            <a:ext cx="63588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ÁLVARO CABELLO, PABLO HORMIGO, JUAN JOSÉ LÓPEZ Y PABLO HERRÁN</a:t>
            </a:r>
          </a:p>
        </p:txBody>
      </p:sp>
    </p:spTree>
    <p:extLst>
      <p:ext uri="{BB962C8B-B14F-4D97-AF65-F5344CB8AC3E}">
        <p14:creationId xmlns:p14="http://schemas.microsoft.com/office/powerpoint/2010/main" val="725315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ADBB56-23BA-4C57-8C08-7B0A84D3F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1. Descripción de la idea emprendedora y el proyecto.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3BAE538-3886-4F96-9165-2C3610D4CFDE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38" t="9246" r="25248" b="9301"/>
          <a:stretch/>
        </p:blipFill>
        <p:spPr bwMode="auto">
          <a:xfrm>
            <a:off x="2675289" y="2558753"/>
            <a:ext cx="1551940" cy="153162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5F48E65D-1280-4892-9395-2B95E4EA4464}"/>
              </a:ext>
            </a:extLst>
          </p:cNvPr>
          <p:cNvSpPr txBox="1"/>
          <p:nvPr/>
        </p:nvSpPr>
        <p:spPr>
          <a:xfrm>
            <a:off x="2676718" y="2097088"/>
            <a:ext cx="17942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LOGOTIPO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3645AE0-C1E2-414A-89B7-A5277952FD83}"/>
              </a:ext>
            </a:extLst>
          </p:cNvPr>
          <p:cNvSpPr txBox="1"/>
          <p:nvPr/>
        </p:nvSpPr>
        <p:spPr>
          <a:xfrm>
            <a:off x="6485854" y="2097088"/>
            <a:ext cx="4353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COMO LLEGAMOS A LA IDEA: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767A4E2-AB2F-42FA-A40E-11EADD1C7F06}"/>
              </a:ext>
            </a:extLst>
          </p:cNvPr>
          <p:cNvCxnSpPr/>
          <p:nvPr/>
        </p:nvCxnSpPr>
        <p:spPr>
          <a:xfrm>
            <a:off x="5534526" y="2144706"/>
            <a:ext cx="0" cy="43634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BDE1838C-6032-4FAC-923E-F9A4341DCA5D}"/>
              </a:ext>
            </a:extLst>
          </p:cNvPr>
          <p:cNvSpPr txBox="1"/>
          <p:nvPr/>
        </p:nvSpPr>
        <p:spPr>
          <a:xfrm>
            <a:off x="6485881" y="2578041"/>
            <a:ext cx="456153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Lluvia de ideas (Brainstorming).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Cardsorting.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Elección por criterios.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Presupuesto.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Puesto en el mercado.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s-E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F128C6A-E54A-453F-8DDE-2D08C9DA1179}"/>
              </a:ext>
            </a:extLst>
          </p:cNvPr>
          <p:cNvSpPr txBox="1"/>
          <p:nvPr/>
        </p:nvSpPr>
        <p:spPr>
          <a:xfrm>
            <a:off x="6485854" y="4794032"/>
            <a:ext cx="4353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BUSSINES MODEL CANVAS</a:t>
            </a:r>
          </a:p>
        </p:txBody>
      </p:sp>
    </p:spTree>
    <p:extLst>
      <p:ext uri="{BB962C8B-B14F-4D97-AF65-F5344CB8AC3E}">
        <p14:creationId xmlns:p14="http://schemas.microsoft.com/office/powerpoint/2010/main" val="3432524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D12C7F-24D2-492F-BE96-26C6BAF2B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2. Presentación de los promotores.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D528072-33E6-4A8B-8FB4-897884BC462C}"/>
              </a:ext>
            </a:extLst>
          </p:cNvPr>
          <p:cNvSpPr txBox="1"/>
          <p:nvPr/>
        </p:nvSpPr>
        <p:spPr>
          <a:xfrm>
            <a:off x="1141413" y="2124744"/>
            <a:ext cx="25001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PABLO HORMIGO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920D22E-8F53-46A4-B214-EF795654F5D3}"/>
              </a:ext>
            </a:extLst>
          </p:cNvPr>
          <p:cNvSpPr txBox="1"/>
          <p:nvPr/>
        </p:nvSpPr>
        <p:spPr>
          <a:xfrm>
            <a:off x="1141412" y="2914818"/>
            <a:ext cx="25001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PABLO HERRÁN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DC16A89-ABFB-4D37-B551-8A52D0F273CF}"/>
              </a:ext>
            </a:extLst>
          </p:cNvPr>
          <p:cNvSpPr txBox="1"/>
          <p:nvPr/>
        </p:nvSpPr>
        <p:spPr>
          <a:xfrm>
            <a:off x="1141412" y="3809927"/>
            <a:ext cx="2660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ÁLVARO CABELLO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A3BDB51-76C8-4725-80DE-41B84585D786}"/>
              </a:ext>
            </a:extLst>
          </p:cNvPr>
          <p:cNvSpPr txBox="1"/>
          <p:nvPr/>
        </p:nvSpPr>
        <p:spPr>
          <a:xfrm>
            <a:off x="1141411" y="4760913"/>
            <a:ext cx="2660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JUAN JOSÉ LÓPEZ</a:t>
            </a:r>
          </a:p>
        </p:txBody>
      </p:sp>
      <p:sp>
        <p:nvSpPr>
          <p:cNvPr id="8" name="Cerrar llave 7">
            <a:extLst>
              <a:ext uri="{FF2B5EF4-FFF2-40B4-BE49-F238E27FC236}">
                <a16:creationId xmlns:a16="http://schemas.microsoft.com/office/drawing/2014/main" id="{BCF4CEF4-3DFC-46E3-995F-AF35B228330F}"/>
              </a:ext>
            </a:extLst>
          </p:cNvPr>
          <p:cNvSpPr/>
          <p:nvPr/>
        </p:nvSpPr>
        <p:spPr>
          <a:xfrm>
            <a:off x="3809999" y="2124744"/>
            <a:ext cx="272716" cy="312549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166A630-68B3-4861-8090-759CE5C6053A}"/>
              </a:ext>
            </a:extLst>
          </p:cNvPr>
          <p:cNvSpPr/>
          <p:nvPr/>
        </p:nvSpPr>
        <p:spPr>
          <a:xfrm>
            <a:off x="4748462" y="3225824"/>
            <a:ext cx="516340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VIRTUAL WALLET</a:t>
            </a:r>
            <a:endParaRPr lang="es-E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8302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0F3B86-2F7B-4678-8F75-65FEEC294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 CULTURA EMPRESARIAL.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6DBA4A3-EFD7-42A2-8866-6C75B5422BA0}"/>
              </a:ext>
            </a:extLst>
          </p:cNvPr>
          <p:cNvSpPr txBox="1"/>
          <p:nvPr/>
        </p:nvSpPr>
        <p:spPr>
          <a:xfrm>
            <a:off x="1141413" y="2124744"/>
            <a:ext cx="1232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MISIÓN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3F3B9F9-85CA-4EE1-9F46-9C0B6D354976}"/>
              </a:ext>
            </a:extLst>
          </p:cNvPr>
          <p:cNvSpPr txBox="1"/>
          <p:nvPr/>
        </p:nvSpPr>
        <p:spPr>
          <a:xfrm>
            <a:off x="5478002" y="2124744"/>
            <a:ext cx="1232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VISIÓN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E9CB14C-DE1B-43A4-A4B0-658F0C3F26BA}"/>
              </a:ext>
            </a:extLst>
          </p:cNvPr>
          <p:cNvSpPr txBox="1"/>
          <p:nvPr/>
        </p:nvSpPr>
        <p:spPr>
          <a:xfrm>
            <a:off x="9577138" y="2124743"/>
            <a:ext cx="1470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VALORES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E87133FB-3877-49B7-B155-6C6174FF4638}"/>
              </a:ext>
            </a:extLst>
          </p:cNvPr>
          <p:cNvCxnSpPr/>
          <p:nvPr/>
        </p:nvCxnSpPr>
        <p:spPr>
          <a:xfrm>
            <a:off x="4154905" y="2124743"/>
            <a:ext cx="0" cy="43634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81AFED86-3B3D-4F8B-8C4C-7B0A790FD8AB}"/>
              </a:ext>
            </a:extLst>
          </p:cNvPr>
          <p:cNvCxnSpPr/>
          <p:nvPr/>
        </p:nvCxnSpPr>
        <p:spPr>
          <a:xfrm>
            <a:off x="8189494" y="2097088"/>
            <a:ext cx="0" cy="43634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9A0B984A-B81B-4AEE-A7BA-AD0430B5C663}"/>
              </a:ext>
            </a:extLst>
          </p:cNvPr>
          <p:cNvSpPr txBox="1"/>
          <p:nvPr/>
        </p:nvSpPr>
        <p:spPr>
          <a:xfrm>
            <a:off x="320844" y="3114672"/>
            <a:ext cx="363353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Compactar toda la documentación personal en un dispositivo de forma segura y eficaz.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7D3446FE-F77B-4402-9306-60408796FC6F}"/>
              </a:ext>
            </a:extLst>
          </p:cNvPr>
          <p:cNvCxnSpPr>
            <a:cxnSpLocks/>
          </p:cNvCxnSpPr>
          <p:nvPr/>
        </p:nvCxnSpPr>
        <p:spPr>
          <a:xfrm flipH="1">
            <a:off x="949511" y="2649740"/>
            <a:ext cx="10289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AFD8CC8-233E-414D-8D5C-66DE349839BD}"/>
              </a:ext>
            </a:extLst>
          </p:cNvPr>
          <p:cNvSpPr txBox="1"/>
          <p:nvPr/>
        </p:nvSpPr>
        <p:spPr>
          <a:xfrm>
            <a:off x="4002507" y="3107450"/>
            <a:ext cx="38529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Conseguir a largo plazo una sociedad digitalizada.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16995AE-46AB-43FF-9777-F1436E1AF793}"/>
              </a:ext>
            </a:extLst>
          </p:cNvPr>
          <p:cNvSpPr txBox="1"/>
          <p:nvPr/>
        </p:nvSpPr>
        <p:spPr>
          <a:xfrm>
            <a:off x="8189494" y="3152979"/>
            <a:ext cx="322105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Comprometidos con el medio ambiente, comodidad de nuestros clientes y ayuda a la sociedad contra la actual pandemia mundial.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8EA9B996-E3E4-4B48-8D4C-F3D47A66BC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039" t="11075" r="8542" b="12390"/>
          <a:stretch/>
        </p:blipFill>
        <p:spPr>
          <a:xfrm>
            <a:off x="7181566" y="788565"/>
            <a:ext cx="2395572" cy="962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577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5DB25-1300-4811-9770-8E7FD4F3F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4. Responsabilidad social.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D9F1E39-FC89-4088-AE29-63975EECC93D}"/>
              </a:ext>
            </a:extLst>
          </p:cNvPr>
          <p:cNvSpPr txBox="1"/>
          <p:nvPr/>
        </p:nvSpPr>
        <p:spPr>
          <a:xfrm>
            <a:off x="1141413" y="1818743"/>
            <a:ext cx="25803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DIMENSIÓN MEDIOAMBIENTAL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8FA80A9-ECFF-4C3D-AF93-89AAC0424CA3}"/>
              </a:ext>
            </a:extLst>
          </p:cNvPr>
          <p:cNvSpPr txBox="1"/>
          <p:nvPr/>
        </p:nvSpPr>
        <p:spPr>
          <a:xfrm>
            <a:off x="4382293" y="1817724"/>
            <a:ext cx="41148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DIMENSIÓN</a:t>
            </a:r>
          </a:p>
          <a:p>
            <a:r>
              <a:rPr lang="es-ES" sz="2400" b="1" dirty="0"/>
              <a:t>ECONOMICO-FINANCIERA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ABF6098-CED3-4A8C-89E2-739A0D87BB5F}"/>
              </a:ext>
            </a:extLst>
          </p:cNvPr>
          <p:cNvSpPr txBox="1"/>
          <p:nvPr/>
        </p:nvSpPr>
        <p:spPr>
          <a:xfrm>
            <a:off x="8497095" y="1817724"/>
            <a:ext cx="21444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DIMENSIÓN SOCIAL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F99B7EBC-54F7-4C9B-91C6-67908455BEF1}"/>
              </a:ext>
            </a:extLst>
          </p:cNvPr>
          <p:cNvCxnSpPr/>
          <p:nvPr/>
        </p:nvCxnSpPr>
        <p:spPr>
          <a:xfrm>
            <a:off x="4154905" y="2124743"/>
            <a:ext cx="0" cy="43634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69438E9-45FA-4BE8-8B96-1CB5B1D74F91}"/>
              </a:ext>
            </a:extLst>
          </p:cNvPr>
          <p:cNvCxnSpPr/>
          <p:nvPr/>
        </p:nvCxnSpPr>
        <p:spPr>
          <a:xfrm>
            <a:off x="8189494" y="2097088"/>
            <a:ext cx="0" cy="43634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E9CDE0A8-040C-4D32-AC49-AF8EA7689A9B}"/>
              </a:ext>
            </a:extLst>
          </p:cNvPr>
          <p:cNvSpPr txBox="1"/>
          <p:nvPr/>
        </p:nvSpPr>
        <p:spPr>
          <a:xfrm>
            <a:off x="320844" y="3114672"/>
            <a:ext cx="363353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Nuestro papel es conseguir un ahorro de plástico y papel gracias a la digitalización.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ED0B6B74-E552-443A-9EC9-DB7E2757B16C}"/>
              </a:ext>
            </a:extLst>
          </p:cNvPr>
          <p:cNvCxnSpPr>
            <a:cxnSpLocks/>
          </p:cNvCxnSpPr>
          <p:nvPr/>
        </p:nvCxnSpPr>
        <p:spPr>
          <a:xfrm flipH="1">
            <a:off x="949511" y="2649740"/>
            <a:ext cx="10289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9EC501B-8E57-48B6-9C6B-B2AA11A4BC66}"/>
              </a:ext>
            </a:extLst>
          </p:cNvPr>
          <p:cNvSpPr txBox="1"/>
          <p:nvPr/>
        </p:nvSpPr>
        <p:spPr>
          <a:xfrm>
            <a:off x="4002507" y="3107450"/>
            <a:ext cx="38529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Garantizar a nuestros clientes una identidad digitalizada segura y a coste 0.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088536E-A1B4-4313-AC13-8FE5699F006B}"/>
              </a:ext>
            </a:extLst>
          </p:cNvPr>
          <p:cNvSpPr txBox="1"/>
          <p:nvPr/>
        </p:nvSpPr>
        <p:spPr>
          <a:xfrm>
            <a:off x="8189494" y="3152979"/>
            <a:ext cx="322105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Wallet no almacena datos, solo somos el intermediario.</a:t>
            </a:r>
          </a:p>
          <a:p>
            <a:pPr lvl="1" algn="just"/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 consulta queda registrada.</a:t>
            </a:r>
          </a:p>
          <a:p>
            <a:pPr lvl="1" algn="just"/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Nos preocupamos por la salud del usuario.</a:t>
            </a:r>
          </a:p>
        </p:txBody>
      </p:sp>
      <p:pic>
        <p:nvPicPr>
          <p:cNvPr id="2050" name="Picture 2" descr="Nuestra Responsabilidad Social Empresarial - Lankide">
            <a:extLst>
              <a:ext uri="{FF2B5EF4-FFF2-40B4-BE49-F238E27FC236}">
                <a16:creationId xmlns:a16="http://schemas.microsoft.com/office/drawing/2014/main" id="{48368125-D7D1-457F-93BC-4F4A80D00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4314" y="566647"/>
            <a:ext cx="1464990" cy="1172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3110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64988C-C9EC-40B4-A2DD-535D585BD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5. Estudio de mercado.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A9AC0BE-A1CB-4DF7-B25B-BC7F9312C662}"/>
              </a:ext>
            </a:extLst>
          </p:cNvPr>
          <p:cNvSpPr txBox="1"/>
          <p:nvPr/>
        </p:nvSpPr>
        <p:spPr>
          <a:xfrm>
            <a:off x="705853" y="1780673"/>
            <a:ext cx="101009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VirtualWallet se dedica al mercado de servicios con el objetivo de llegar al mayor número de clientes posible. El mercado digital se encuentra actualmente en auge y esto hará que nuestra propuesta encaje en el mercado.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502D16F-9AA8-4AE7-A282-22B94F36D68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320" t="9019" r="19682" b="15088"/>
          <a:stretch/>
        </p:blipFill>
        <p:spPr>
          <a:xfrm>
            <a:off x="2152065" y="3177550"/>
            <a:ext cx="2742298" cy="256404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C9800B2-A0B6-438C-BD2F-48D816918A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759" r="20476"/>
          <a:stretch/>
        </p:blipFill>
        <p:spPr>
          <a:xfrm>
            <a:off x="6604650" y="3177550"/>
            <a:ext cx="2742299" cy="2689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88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8761CD-D41A-42A7-9B86-628C02802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5.1. DAFO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3FC663C-A311-4222-815B-8F54354FD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258" y="1951143"/>
            <a:ext cx="9086307" cy="4288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325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E74695-FE34-4C68-98E1-0E7EBF79F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6. PLAN DE MARKETING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35D80C3-261E-47C8-8226-B52EA524D016}"/>
              </a:ext>
            </a:extLst>
          </p:cNvPr>
          <p:cNvSpPr txBox="1"/>
          <p:nvPr/>
        </p:nvSpPr>
        <p:spPr>
          <a:xfrm>
            <a:off x="1197031" y="2093594"/>
            <a:ext cx="19749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PRODUCTO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E40302E-4DC2-4EC4-A158-D3430639107B}"/>
              </a:ext>
            </a:extLst>
          </p:cNvPr>
          <p:cNvSpPr txBox="1"/>
          <p:nvPr/>
        </p:nvSpPr>
        <p:spPr>
          <a:xfrm>
            <a:off x="4182602" y="2084926"/>
            <a:ext cx="1232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PRECIO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6951250-02C4-4767-8AF2-EFA2ABA55FC2}"/>
              </a:ext>
            </a:extLst>
          </p:cNvPr>
          <p:cNvSpPr txBox="1"/>
          <p:nvPr/>
        </p:nvSpPr>
        <p:spPr>
          <a:xfrm>
            <a:off x="6791409" y="2084927"/>
            <a:ext cx="1470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PLACE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ED8223B-47E7-47F5-9D0D-C7A92FC3DA76}"/>
              </a:ext>
            </a:extLst>
          </p:cNvPr>
          <p:cNvCxnSpPr/>
          <p:nvPr/>
        </p:nvCxnSpPr>
        <p:spPr>
          <a:xfrm>
            <a:off x="3224463" y="2084926"/>
            <a:ext cx="0" cy="43634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8C4E4B6B-6390-4906-AF45-4C7697DD36E7}"/>
              </a:ext>
            </a:extLst>
          </p:cNvPr>
          <p:cNvCxnSpPr/>
          <p:nvPr/>
        </p:nvCxnSpPr>
        <p:spPr>
          <a:xfrm>
            <a:off x="6094410" y="2084926"/>
            <a:ext cx="0" cy="43634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F9DB0C32-6919-4546-8B8F-DFCB982DC3E2}"/>
              </a:ext>
            </a:extLst>
          </p:cNvPr>
          <p:cNvSpPr txBox="1"/>
          <p:nvPr/>
        </p:nvSpPr>
        <p:spPr>
          <a:xfrm>
            <a:off x="440285" y="2787334"/>
            <a:ext cx="264433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 móvil para digitalizar todos los documentos personales.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AA1F7338-A276-4EE6-A4AE-1BC828E8C463}"/>
              </a:ext>
            </a:extLst>
          </p:cNvPr>
          <p:cNvCxnSpPr>
            <a:cxnSpLocks/>
          </p:cNvCxnSpPr>
          <p:nvPr/>
        </p:nvCxnSpPr>
        <p:spPr>
          <a:xfrm flipH="1">
            <a:off x="949511" y="2649740"/>
            <a:ext cx="10289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193E360-3433-4020-BD7E-230060B7EA80}"/>
              </a:ext>
            </a:extLst>
          </p:cNvPr>
          <p:cNvSpPr txBox="1"/>
          <p:nvPr/>
        </p:nvSpPr>
        <p:spPr>
          <a:xfrm>
            <a:off x="9208173" y="2090100"/>
            <a:ext cx="2031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PROMOCIÓN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6308A35E-5FAD-4007-8824-11B4D0334786}"/>
              </a:ext>
            </a:extLst>
          </p:cNvPr>
          <p:cNvCxnSpPr/>
          <p:nvPr/>
        </p:nvCxnSpPr>
        <p:spPr>
          <a:xfrm>
            <a:off x="8839198" y="2084927"/>
            <a:ext cx="0" cy="43634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EAB1757-6953-43BE-AE99-DA66FB9374F9}"/>
              </a:ext>
            </a:extLst>
          </p:cNvPr>
          <p:cNvSpPr txBox="1"/>
          <p:nvPr/>
        </p:nvSpPr>
        <p:spPr>
          <a:xfrm>
            <a:off x="3050398" y="2787334"/>
            <a:ext cx="284921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Parte gratuita para documentos mas necesitados.</a:t>
            </a:r>
          </a:p>
          <a:p>
            <a:pPr lvl="1" algn="just"/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Parte de pago para añadir otros documentos.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52FD08F-372E-4DC6-917D-F9A4A870F9F9}"/>
              </a:ext>
            </a:extLst>
          </p:cNvPr>
          <p:cNvSpPr txBox="1"/>
          <p:nvPr/>
        </p:nvSpPr>
        <p:spPr>
          <a:xfrm>
            <a:off x="5938191" y="2764833"/>
            <a:ext cx="271527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Distribución a través de Google Play y Apple Store.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CFDA0AC-1E87-4178-B896-3A4118D718DA}"/>
              </a:ext>
            </a:extLst>
          </p:cNvPr>
          <p:cNvSpPr txBox="1"/>
          <p:nvPr/>
        </p:nvSpPr>
        <p:spPr>
          <a:xfrm>
            <a:off x="8615454" y="2787334"/>
            <a:ext cx="275173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Usamos técnicas de promoción explicadas a continuación.</a:t>
            </a:r>
          </a:p>
        </p:txBody>
      </p:sp>
      <p:pic>
        <p:nvPicPr>
          <p:cNvPr id="4098" name="Picture 2" descr="Plan de marketing para una empresa de reformas - Mejores estrategias">
            <a:extLst>
              <a:ext uri="{FF2B5EF4-FFF2-40B4-BE49-F238E27FC236}">
                <a16:creationId xmlns:a16="http://schemas.microsoft.com/office/drawing/2014/main" id="{A16071AB-96A4-4018-B951-DA7CD9ACE8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603"/>
          <a:stretch/>
        </p:blipFill>
        <p:spPr bwMode="auto">
          <a:xfrm>
            <a:off x="6880815" y="558356"/>
            <a:ext cx="2399331" cy="1433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3960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23EDC9-B714-4997-9AB3-8B1134137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6.1. REDES SOCIALES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76E2BB7-B81F-4C9E-AE34-869E0B8C2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2301791"/>
            <a:ext cx="3695700" cy="376237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1998E5B-24C9-46E2-8B7E-75FFCEE43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0191" y="2301791"/>
            <a:ext cx="4133850" cy="38481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DFE6091-3A08-487E-B5AC-36AFC7BA0941}"/>
              </a:ext>
            </a:extLst>
          </p:cNvPr>
          <p:cNvSpPr txBox="1"/>
          <p:nvPr/>
        </p:nvSpPr>
        <p:spPr>
          <a:xfrm>
            <a:off x="2304411" y="1737774"/>
            <a:ext cx="1369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TWITTER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E7970DF-BBD7-433A-AE2D-4D2DB4C8585E}"/>
              </a:ext>
            </a:extLst>
          </p:cNvPr>
          <p:cNvCxnSpPr/>
          <p:nvPr/>
        </p:nvCxnSpPr>
        <p:spPr>
          <a:xfrm>
            <a:off x="5678905" y="2097088"/>
            <a:ext cx="0" cy="43634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D9423D8D-C296-4AE4-8182-5CB83AF09314}"/>
              </a:ext>
            </a:extLst>
          </p:cNvPr>
          <p:cNvSpPr txBox="1"/>
          <p:nvPr/>
        </p:nvSpPr>
        <p:spPr>
          <a:xfrm>
            <a:off x="7902981" y="1635423"/>
            <a:ext cx="1808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INSTAGRAM</a:t>
            </a:r>
          </a:p>
        </p:txBody>
      </p:sp>
    </p:spTree>
    <p:extLst>
      <p:ext uri="{BB962C8B-B14F-4D97-AF65-F5344CB8AC3E}">
        <p14:creationId xmlns:p14="http://schemas.microsoft.com/office/powerpoint/2010/main" val="3733257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5B4016-C5FD-4867-9F6A-1E53C76F3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6.2. TARJETA DE VISITA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72ABDB4-719F-4D87-A6DC-1B4C89D0D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1761039"/>
            <a:ext cx="4866972" cy="274679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91D7F51-6914-4936-BFA7-C256B04D6E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0439" y="3544168"/>
            <a:ext cx="4866972" cy="2735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582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6B748B-2602-48C3-B79F-3A0806970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6.3. MERCHANDISING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DFD23915-5FD1-40D9-92DF-41A3B9DD0F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247" t="7249" r="21864" b="5141"/>
          <a:stretch/>
        </p:blipFill>
        <p:spPr>
          <a:xfrm>
            <a:off x="1379316" y="2924400"/>
            <a:ext cx="1562100" cy="1836513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D767F619-3766-4C50-9F14-1E001CBE0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3768" y="1888882"/>
            <a:ext cx="3362352" cy="3790287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1CEF773D-77E6-46F9-AA1D-422226F794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8472" y="1624611"/>
            <a:ext cx="3600005" cy="405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0702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9B6785-065F-4518-9A5E-610C2D3EF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6.4. PÁGINA WEB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55B3C42-3BEB-49F3-925A-A1FD1CB07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2859" y="1787190"/>
            <a:ext cx="7346282" cy="4452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7448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5991A5-49FF-4891-9FFB-10F3C5E0A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7. PLAN DE INVERSIÓN Y GASTOS</a:t>
            </a:r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06A98CF2-345E-441F-8B3D-6F3505A365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316" t="8404" r="25394" b="8541"/>
          <a:stretch/>
        </p:blipFill>
        <p:spPr>
          <a:xfrm>
            <a:off x="2296445" y="1442893"/>
            <a:ext cx="7106653" cy="4796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0916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82DBA-2ABE-4693-A4E4-FC386811F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7.1. Inversiones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279366DF-B480-41E4-A26D-92638A7A914B}"/>
              </a:ext>
            </a:extLst>
          </p:cNvPr>
          <p:cNvCxnSpPr/>
          <p:nvPr/>
        </p:nvCxnSpPr>
        <p:spPr>
          <a:xfrm>
            <a:off x="4154905" y="2124743"/>
            <a:ext cx="0" cy="43634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31441CF0-42C9-401C-8544-5F85B556B450}"/>
              </a:ext>
            </a:extLst>
          </p:cNvPr>
          <p:cNvCxnSpPr>
            <a:cxnSpLocks/>
          </p:cNvCxnSpPr>
          <p:nvPr/>
        </p:nvCxnSpPr>
        <p:spPr>
          <a:xfrm flipH="1">
            <a:off x="949512" y="2649740"/>
            <a:ext cx="60127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BBBCFD27-0B98-4E8E-8AF9-B84D749EC4FA}"/>
              </a:ext>
            </a:extLst>
          </p:cNvPr>
          <p:cNvSpPr txBox="1"/>
          <p:nvPr/>
        </p:nvSpPr>
        <p:spPr>
          <a:xfrm>
            <a:off x="1462255" y="2097088"/>
            <a:ext cx="2580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INVERSIONES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7133F3FF-B8C0-4EA3-B25A-7FE2BC5797E9}"/>
              </a:ext>
            </a:extLst>
          </p:cNvPr>
          <p:cNvCxnSpPr>
            <a:cxnSpLocks/>
          </p:cNvCxnSpPr>
          <p:nvPr/>
        </p:nvCxnSpPr>
        <p:spPr>
          <a:xfrm flipH="1">
            <a:off x="949511" y="3429000"/>
            <a:ext cx="60127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38CC8A6E-725D-4408-86D5-D7F5E00A653A}"/>
              </a:ext>
            </a:extLst>
          </p:cNvPr>
          <p:cNvCxnSpPr>
            <a:cxnSpLocks/>
          </p:cNvCxnSpPr>
          <p:nvPr/>
        </p:nvCxnSpPr>
        <p:spPr>
          <a:xfrm flipH="1">
            <a:off x="949510" y="4306469"/>
            <a:ext cx="60127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78AD289-D7E7-4F0D-932C-52FFC2BD7A18}"/>
              </a:ext>
            </a:extLst>
          </p:cNvPr>
          <p:cNvCxnSpPr>
            <a:cxnSpLocks/>
          </p:cNvCxnSpPr>
          <p:nvPr/>
        </p:nvCxnSpPr>
        <p:spPr>
          <a:xfrm flipH="1">
            <a:off x="949509" y="5048035"/>
            <a:ext cx="60127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C9F8125A-5E8B-452A-B68D-B99F5F10E7DA}"/>
              </a:ext>
            </a:extLst>
          </p:cNvPr>
          <p:cNvSpPr txBox="1"/>
          <p:nvPr/>
        </p:nvSpPr>
        <p:spPr>
          <a:xfrm>
            <a:off x="409074" y="2789691"/>
            <a:ext cx="36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Equipos informáticos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0A66F1C-75A5-4964-A262-77C59032CC40}"/>
              </a:ext>
            </a:extLst>
          </p:cNvPr>
          <p:cNvSpPr txBox="1"/>
          <p:nvPr/>
        </p:nvSpPr>
        <p:spPr>
          <a:xfrm>
            <a:off x="4403562" y="2785607"/>
            <a:ext cx="19972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1.794,56€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AF0ACAD-15BE-4540-A02D-1167FE79C8D9}"/>
              </a:ext>
            </a:extLst>
          </p:cNvPr>
          <p:cNvSpPr txBox="1"/>
          <p:nvPr/>
        </p:nvSpPr>
        <p:spPr>
          <a:xfrm>
            <a:off x="409074" y="3602634"/>
            <a:ext cx="36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Programas informáticos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4C940A7-74EB-413D-BA6F-CD5AEB021F12}"/>
              </a:ext>
            </a:extLst>
          </p:cNvPr>
          <p:cNvSpPr txBox="1"/>
          <p:nvPr/>
        </p:nvSpPr>
        <p:spPr>
          <a:xfrm>
            <a:off x="4810628" y="3610729"/>
            <a:ext cx="14959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97,55€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EB0939D-E4E2-4942-88AF-4C67BE08755E}"/>
              </a:ext>
            </a:extLst>
          </p:cNvPr>
          <p:cNvSpPr txBox="1"/>
          <p:nvPr/>
        </p:nvSpPr>
        <p:spPr>
          <a:xfrm>
            <a:off x="409073" y="4397912"/>
            <a:ext cx="36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Patente o marca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5D72B88-12C6-4826-A243-F2047544E0D4}"/>
              </a:ext>
            </a:extLst>
          </p:cNvPr>
          <p:cNvSpPr txBox="1"/>
          <p:nvPr/>
        </p:nvSpPr>
        <p:spPr>
          <a:xfrm>
            <a:off x="4666252" y="4446420"/>
            <a:ext cx="17345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144,00€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4D10AB0-9DEE-4409-9B2F-F525D6358F89}"/>
              </a:ext>
            </a:extLst>
          </p:cNvPr>
          <p:cNvSpPr txBox="1"/>
          <p:nvPr/>
        </p:nvSpPr>
        <p:spPr>
          <a:xfrm>
            <a:off x="935663" y="5218661"/>
            <a:ext cx="2580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TOTAL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A8E11102-17BC-4C95-AF39-33E0FE53C13D}"/>
              </a:ext>
            </a:extLst>
          </p:cNvPr>
          <p:cNvSpPr txBox="1"/>
          <p:nvPr/>
        </p:nvSpPr>
        <p:spPr>
          <a:xfrm>
            <a:off x="4842712" y="5218660"/>
            <a:ext cx="1640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2.063,11€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497AFE37-ED8F-4CE4-A2B7-CF5DF36F06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918" r="23470"/>
          <a:stretch/>
        </p:blipFill>
        <p:spPr>
          <a:xfrm>
            <a:off x="7985942" y="2247162"/>
            <a:ext cx="3376670" cy="337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3295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F2D7EA-6C19-454C-860D-C51472C06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7.2. GASTOS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C83A7BBA-9F7F-48AA-A947-26D8E6CFB6B7}"/>
              </a:ext>
            </a:extLst>
          </p:cNvPr>
          <p:cNvCxnSpPr/>
          <p:nvPr/>
        </p:nvCxnSpPr>
        <p:spPr>
          <a:xfrm>
            <a:off x="4509046" y="1657709"/>
            <a:ext cx="0" cy="43634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4BFEE425-F57F-40B5-9666-4F805E6A7787}"/>
              </a:ext>
            </a:extLst>
          </p:cNvPr>
          <p:cNvCxnSpPr>
            <a:cxnSpLocks/>
          </p:cNvCxnSpPr>
          <p:nvPr/>
        </p:nvCxnSpPr>
        <p:spPr>
          <a:xfrm flipH="1">
            <a:off x="949512" y="2131965"/>
            <a:ext cx="60127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4C87807B-77D9-4489-9EAB-F907B6909E36}"/>
              </a:ext>
            </a:extLst>
          </p:cNvPr>
          <p:cNvSpPr txBox="1"/>
          <p:nvPr/>
        </p:nvSpPr>
        <p:spPr>
          <a:xfrm>
            <a:off x="1347537" y="1756508"/>
            <a:ext cx="2580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GASTOS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D82E3268-9EB3-4CD4-AC61-A7F406F767AA}"/>
              </a:ext>
            </a:extLst>
          </p:cNvPr>
          <p:cNvCxnSpPr>
            <a:cxnSpLocks/>
          </p:cNvCxnSpPr>
          <p:nvPr/>
        </p:nvCxnSpPr>
        <p:spPr>
          <a:xfrm flipH="1">
            <a:off x="949511" y="2561388"/>
            <a:ext cx="60127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9DE662D3-B709-4F60-9350-48BC3B498A50}"/>
              </a:ext>
            </a:extLst>
          </p:cNvPr>
          <p:cNvCxnSpPr>
            <a:cxnSpLocks/>
          </p:cNvCxnSpPr>
          <p:nvPr/>
        </p:nvCxnSpPr>
        <p:spPr>
          <a:xfrm flipH="1">
            <a:off x="949510" y="3068414"/>
            <a:ext cx="60127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A954CD3C-AF4D-4484-AE33-AA9E36084B65}"/>
              </a:ext>
            </a:extLst>
          </p:cNvPr>
          <p:cNvCxnSpPr>
            <a:cxnSpLocks/>
          </p:cNvCxnSpPr>
          <p:nvPr/>
        </p:nvCxnSpPr>
        <p:spPr>
          <a:xfrm flipH="1">
            <a:off x="935663" y="3471898"/>
            <a:ext cx="60127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6E9BD914-D71A-4051-AFAD-68DF3D319679}"/>
              </a:ext>
            </a:extLst>
          </p:cNvPr>
          <p:cNvSpPr txBox="1"/>
          <p:nvPr/>
        </p:nvSpPr>
        <p:spPr>
          <a:xfrm>
            <a:off x="425115" y="2099723"/>
            <a:ext cx="36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A202275-2FA0-4438-95A4-FF7476FF4694}"/>
              </a:ext>
            </a:extLst>
          </p:cNvPr>
          <p:cNvSpPr txBox="1"/>
          <p:nvPr/>
        </p:nvSpPr>
        <p:spPr>
          <a:xfrm>
            <a:off x="4876807" y="2129839"/>
            <a:ext cx="19972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1.375,00€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A37A5C5-73DF-4C28-A36B-B3A60CF01C9F}"/>
              </a:ext>
            </a:extLst>
          </p:cNvPr>
          <p:cNvSpPr txBox="1"/>
          <p:nvPr/>
        </p:nvSpPr>
        <p:spPr>
          <a:xfrm>
            <a:off x="425115" y="2593630"/>
            <a:ext cx="36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Servidores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028A775-BC9D-49F7-8B9F-C8E4218A1F18}"/>
              </a:ext>
            </a:extLst>
          </p:cNvPr>
          <p:cNvSpPr txBox="1"/>
          <p:nvPr/>
        </p:nvSpPr>
        <p:spPr>
          <a:xfrm>
            <a:off x="4545744" y="2559261"/>
            <a:ext cx="2225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185,00€/mes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61899FA-04B9-4A09-9F9C-B92356F1C610}"/>
              </a:ext>
            </a:extLst>
          </p:cNvPr>
          <p:cNvSpPr txBox="1"/>
          <p:nvPr/>
        </p:nvSpPr>
        <p:spPr>
          <a:xfrm>
            <a:off x="399840" y="3055295"/>
            <a:ext cx="36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Gastos de constitución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2C71285-2888-4429-B9F5-71B67ADDE4EC}"/>
              </a:ext>
            </a:extLst>
          </p:cNvPr>
          <p:cNvSpPr txBox="1"/>
          <p:nvPr/>
        </p:nvSpPr>
        <p:spPr>
          <a:xfrm>
            <a:off x="4894061" y="3066286"/>
            <a:ext cx="1883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4.000,00€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61FF982-67D1-46B6-933F-1F8611F0CDE9}"/>
              </a:ext>
            </a:extLst>
          </p:cNvPr>
          <p:cNvSpPr txBox="1"/>
          <p:nvPr/>
        </p:nvSpPr>
        <p:spPr>
          <a:xfrm>
            <a:off x="876304" y="5667599"/>
            <a:ext cx="2580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TOTAL (3 meses)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716B582-DC2C-4BE3-96DC-E4F7119FFB51}"/>
              </a:ext>
            </a:extLst>
          </p:cNvPr>
          <p:cNvSpPr txBox="1"/>
          <p:nvPr/>
        </p:nvSpPr>
        <p:spPr>
          <a:xfrm>
            <a:off x="5185623" y="5665472"/>
            <a:ext cx="1878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17.415,83€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B41894E0-76DD-43BF-AB75-72DC4544BD8E}"/>
              </a:ext>
            </a:extLst>
          </p:cNvPr>
          <p:cNvCxnSpPr>
            <a:cxnSpLocks/>
          </p:cNvCxnSpPr>
          <p:nvPr/>
        </p:nvCxnSpPr>
        <p:spPr>
          <a:xfrm flipH="1">
            <a:off x="949510" y="3875933"/>
            <a:ext cx="60127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EC76808-CD4F-40A2-AA6C-D26242232339}"/>
              </a:ext>
            </a:extLst>
          </p:cNvPr>
          <p:cNvSpPr txBox="1"/>
          <p:nvPr/>
        </p:nvSpPr>
        <p:spPr>
          <a:xfrm>
            <a:off x="397645" y="3459330"/>
            <a:ext cx="36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Gastos de lanzamiento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698B380-2B71-4107-BB31-1957970D8BDB}"/>
              </a:ext>
            </a:extLst>
          </p:cNvPr>
          <p:cNvSpPr txBox="1"/>
          <p:nvPr/>
        </p:nvSpPr>
        <p:spPr>
          <a:xfrm>
            <a:off x="5149521" y="3470321"/>
            <a:ext cx="2011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734,98€</a:t>
            </a: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CE3B0224-DB2F-4B5F-AFA0-EBD6A26C61D4}"/>
              </a:ext>
            </a:extLst>
          </p:cNvPr>
          <p:cNvCxnSpPr>
            <a:cxnSpLocks/>
          </p:cNvCxnSpPr>
          <p:nvPr/>
        </p:nvCxnSpPr>
        <p:spPr>
          <a:xfrm flipH="1">
            <a:off x="949510" y="4305041"/>
            <a:ext cx="60127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E688AC14-EA04-4096-B155-EADF04973434}"/>
              </a:ext>
            </a:extLst>
          </p:cNvPr>
          <p:cNvSpPr txBox="1"/>
          <p:nvPr/>
        </p:nvSpPr>
        <p:spPr>
          <a:xfrm>
            <a:off x="397645" y="3888438"/>
            <a:ext cx="36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Bufete de abogados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5A5B689-6F43-4F33-9D9E-F03370C3D9D1}"/>
              </a:ext>
            </a:extLst>
          </p:cNvPr>
          <p:cNvSpPr txBox="1"/>
          <p:nvPr/>
        </p:nvSpPr>
        <p:spPr>
          <a:xfrm>
            <a:off x="4591681" y="3899429"/>
            <a:ext cx="252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200,00€/mes</a:t>
            </a:r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246E8627-00D9-4AFC-A2C2-EAB92E533CF2}"/>
              </a:ext>
            </a:extLst>
          </p:cNvPr>
          <p:cNvCxnSpPr>
            <a:cxnSpLocks/>
          </p:cNvCxnSpPr>
          <p:nvPr/>
        </p:nvCxnSpPr>
        <p:spPr>
          <a:xfrm flipH="1">
            <a:off x="951507" y="4728264"/>
            <a:ext cx="60127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86D2EBAE-0416-45B0-95EA-254D37B57B37}"/>
              </a:ext>
            </a:extLst>
          </p:cNvPr>
          <p:cNvSpPr txBox="1"/>
          <p:nvPr/>
        </p:nvSpPr>
        <p:spPr>
          <a:xfrm>
            <a:off x="399642" y="4311661"/>
            <a:ext cx="36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Nóminas</a:t>
            </a:r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011C2F97-573E-4D0B-9216-CF2BD1E89983}"/>
              </a:ext>
            </a:extLst>
          </p:cNvPr>
          <p:cNvCxnSpPr>
            <a:cxnSpLocks/>
          </p:cNvCxnSpPr>
          <p:nvPr/>
        </p:nvCxnSpPr>
        <p:spPr>
          <a:xfrm flipH="1">
            <a:off x="949510" y="5163991"/>
            <a:ext cx="60127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5307C1C6-A43D-4332-A93F-C95BC49F276B}"/>
              </a:ext>
            </a:extLst>
          </p:cNvPr>
          <p:cNvSpPr txBox="1"/>
          <p:nvPr/>
        </p:nvSpPr>
        <p:spPr>
          <a:xfrm>
            <a:off x="352928" y="4747388"/>
            <a:ext cx="4480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Seguro responsabilidad civil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EA7C786-39F7-42D1-A01A-A709C4CE9EC2}"/>
              </a:ext>
            </a:extLst>
          </p:cNvPr>
          <p:cNvSpPr txBox="1"/>
          <p:nvPr/>
        </p:nvSpPr>
        <p:spPr>
          <a:xfrm>
            <a:off x="4383135" y="4309202"/>
            <a:ext cx="252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2.298,25€/mes</a:t>
            </a:r>
          </a:p>
        </p:txBody>
      </p: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F09F483E-1FBB-4F3E-9758-56D397B78BC8}"/>
              </a:ext>
            </a:extLst>
          </p:cNvPr>
          <p:cNvCxnSpPr>
            <a:cxnSpLocks/>
          </p:cNvCxnSpPr>
          <p:nvPr/>
        </p:nvCxnSpPr>
        <p:spPr>
          <a:xfrm flipH="1">
            <a:off x="949510" y="5619900"/>
            <a:ext cx="60127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31AADBBB-25C7-4220-BBBA-8BA9D20A3D5C}"/>
              </a:ext>
            </a:extLst>
          </p:cNvPr>
          <p:cNvSpPr txBox="1"/>
          <p:nvPr/>
        </p:nvSpPr>
        <p:spPr>
          <a:xfrm>
            <a:off x="4591681" y="4749070"/>
            <a:ext cx="252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150,00€/mes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AB5F8E5-AC93-4F90-852C-F111F5FAB60C}"/>
              </a:ext>
            </a:extLst>
          </p:cNvPr>
          <p:cNvSpPr txBox="1"/>
          <p:nvPr/>
        </p:nvSpPr>
        <p:spPr>
          <a:xfrm>
            <a:off x="352928" y="5173799"/>
            <a:ext cx="4480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 de oficina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3B255BD2-F04C-43F0-8723-3B16385E147F}"/>
              </a:ext>
            </a:extLst>
          </p:cNvPr>
          <p:cNvSpPr txBox="1"/>
          <p:nvPr/>
        </p:nvSpPr>
        <p:spPr>
          <a:xfrm>
            <a:off x="4768143" y="5175481"/>
            <a:ext cx="252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56,10€/mes</a:t>
            </a:r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503AE169-1AF4-4E7B-9531-243BA1165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0053" y="2041848"/>
            <a:ext cx="3585111" cy="358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9281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782FAE-D023-4AB6-93F1-1F4C010B9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7.3. CAPITAL NECESARIO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736571E5-7862-4B00-985F-0AD257E36D84}"/>
              </a:ext>
            </a:extLst>
          </p:cNvPr>
          <p:cNvCxnSpPr>
            <a:cxnSpLocks/>
          </p:cNvCxnSpPr>
          <p:nvPr/>
        </p:nvCxnSpPr>
        <p:spPr>
          <a:xfrm>
            <a:off x="4987092" y="1790053"/>
            <a:ext cx="0" cy="23006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1EDBB135-97D9-4F4B-BE0E-8662FA8E1846}"/>
              </a:ext>
            </a:extLst>
          </p:cNvPr>
          <p:cNvCxnSpPr>
            <a:cxnSpLocks/>
          </p:cNvCxnSpPr>
          <p:nvPr/>
        </p:nvCxnSpPr>
        <p:spPr>
          <a:xfrm flipH="1">
            <a:off x="1125974" y="2597923"/>
            <a:ext cx="60127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B1E5C337-5BD7-4705-99D8-35558ED6635B}"/>
              </a:ext>
            </a:extLst>
          </p:cNvPr>
          <p:cNvCxnSpPr>
            <a:cxnSpLocks/>
          </p:cNvCxnSpPr>
          <p:nvPr/>
        </p:nvCxnSpPr>
        <p:spPr>
          <a:xfrm flipH="1">
            <a:off x="1125973" y="3339489"/>
            <a:ext cx="60127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27B1EE4D-0052-4F9E-9CFA-6F67FE7F6B6D}"/>
              </a:ext>
            </a:extLst>
          </p:cNvPr>
          <p:cNvSpPr txBox="1"/>
          <p:nvPr/>
        </p:nvSpPr>
        <p:spPr>
          <a:xfrm>
            <a:off x="585538" y="1958256"/>
            <a:ext cx="4257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s-E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INVERSIONES TOTALES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823794B-9E8D-4059-8700-428571253BAA}"/>
              </a:ext>
            </a:extLst>
          </p:cNvPr>
          <p:cNvSpPr txBox="1"/>
          <p:nvPr/>
        </p:nvSpPr>
        <p:spPr>
          <a:xfrm>
            <a:off x="4987092" y="1966351"/>
            <a:ext cx="2023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2.036,11€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B3E97DD-E4A7-4E1C-8DC3-D9F0E2489886}"/>
              </a:ext>
            </a:extLst>
          </p:cNvPr>
          <p:cNvSpPr txBox="1"/>
          <p:nvPr/>
        </p:nvSpPr>
        <p:spPr>
          <a:xfrm>
            <a:off x="585537" y="2689366"/>
            <a:ext cx="36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s-E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GASTOS TOTALES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B406255-EED1-4E49-A46D-F975D9D29631}"/>
              </a:ext>
            </a:extLst>
          </p:cNvPr>
          <p:cNvSpPr txBox="1"/>
          <p:nvPr/>
        </p:nvSpPr>
        <p:spPr>
          <a:xfrm>
            <a:off x="4842716" y="2737874"/>
            <a:ext cx="21676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17.415,83€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46AB0FB-7E05-420D-BB67-C80A7128197E}"/>
              </a:ext>
            </a:extLst>
          </p:cNvPr>
          <p:cNvSpPr txBox="1"/>
          <p:nvPr/>
        </p:nvSpPr>
        <p:spPr>
          <a:xfrm>
            <a:off x="1112126" y="3510115"/>
            <a:ext cx="39070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TOTAL CAPITAL NECESARIO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6695B01-CCC0-4191-9969-8F6323BF3494}"/>
              </a:ext>
            </a:extLst>
          </p:cNvPr>
          <p:cNvSpPr txBox="1"/>
          <p:nvPr/>
        </p:nvSpPr>
        <p:spPr>
          <a:xfrm>
            <a:off x="5225719" y="3472775"/>
            <a:ext cx="1834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19.451,83€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647AD3B4-E683-484F-B80C-3D645D73B9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041" t="24721" r="22584" b="25348"/>
          <a:stretch/>
        </p:blipFill>
        <p:spPr>
          <a:xfrm>
            <a:off x="7922814" y="3406296"/>
            <a:ext cx="2394265" cy="2282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5322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14D4BF-0B0F-403F-A534-DF525FD6E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8. PLAN DE FINANCIACIÓN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6117134-87FA-4BD1-A21C-86DC78F80B7F}"/>
              </a:ext>
            </a:extLst>
          </p:cNvPr>
          <p:cNvSpPr txBox="1"/>
          <p:nvPr/>
        </p:nvSpPr>
        <p:spPr>
          <a:xfrm>
            <a:off x="665748" y="2097088"/>
            <a:ext cx="79753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Gracias al plan de financiación podremos recoger todos los conceptos en materia de gastos e ingresos y tener una contabilidad precisa de la empresa.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C76F6CC-4EAD-402B-BD0E-8907AE469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0394" y="3297417"/>
            <a:ext cx="4303859" cy="3298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777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3BEAFB-F71B-407C-A519-2CDCF5A1B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8.1. FUENTES DE FINANCIACIÓN PROPIAS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AAD265F-3D43-4152-9B12-351994C9499F}"/>
              </a:ext>
            </a:extLst>
          </p:cNvPr>
          <p:cNvSpPr txBox="1"/>
          <p:nvPr/>
        </p:nvSpPr>
        <p:spPr>
          <a:xfrm>
            <a:off x="665748" y="2097088"/>
            <a:ext cx="797534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s-E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Aportaciones de los socios:</a:t>
            </a:r>
            <a:endParaRPr lang="es-E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es-E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Somos cuatro socios con el mismo nivel de inversión inicial que será de 2.000,00€ por cada uno, lo que hace un total de 8.000,00€.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4754263-8276-41D2-9050-854D234903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401" t="7437" r="26418" b="11554"/>
          <a:stretch/>
        </p:blipFill>
        <p:spPr>
          <a:xfrm>
            <a:off x="7422732" y="1331495"/>
            <a:ext cx="5144196" cy="5213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6655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87DEC7-C562-44A4-8699-4D233FACD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8.2. FUENTES DE FINANCIACIÓN AJENAS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A4DC4C2-44F3-48F4-BF56-9E9493865DC7}"/>
              </a:ext>
            </a:extLst>
          </p:cNvPr>
          <p:cNvSpPr txBox="1"/>
          <p:nvPr/>
        </p:nvSpPr>
        <p:spPr>
          <a:xfrm>
            <a:off x="922420" y="2648069"/>
            <a:ext cx="48162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s-E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PRÉSTAMOS FAMILIARES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2AC13DB-C401-4B14-99A2-15AFEF72F840}"/>
              </a:ext>
            </a:extLst>
          </p:cNvPr>
          <p:cNvSpPr txBox="1"/>
          <p:nvPr/>
        </p:nvSpPr>
        <p:spPr>
          <a:xfrm>
            <a:off x="7062950" y="2648068"/>
            <a:ext cx="4257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s-E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PRÉSTAMO ICO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680C4F28-940F-48FE-B264-D7ACFBCA1A24}"/>
              </a:ext>
            </a:extLst>
          </p:cNvPr>
          <p:cNvCxnSpPr>
            <a:cxnSpLocks/>
          </p:cNvCxnSpPr>
          <p:nvPr/>
        </p:nvCxnSpPr>
        <p:spPr>
          <a:xfrm>
            <a:off x="6049088" y="2648068"/>
            <a:ext cx="30870" cy="31270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07C80856-BD25-4703-8600-4626FDB799F9}"/>
              </a:ext>
            </a:extLst>
          </p:cNvPr>
          <p:cNvCxnSpPr>
            <a:cxnSpLocks/>
          </p:cNvCxnSpPr>
          <p:nvPr/>
        </p:nvCxnSpPr>
        <p:spPr>
          <a:xfrm flipH="1">
            <a:off x="802105" y="3109733"/>
            <a:ext cx="1055570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B30E6094-4ECF-4753-BAAA-3D4D7A5D1974}"/>
              </a:ext>
            </a:extLst>
          </p:cNvPr>
          <p:cNvSpPr txBox="1"/>
          <p:nvPr/>
        </p:nvSpPr>
        <p:spPr>
          <a:xfrm>
            <a:off x="802105" y="3340564"/>
            <a:ext cx="487679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Entre los familiares de los cuatro socios hemos recaudado la cantidad total de 2.000,00€ para el proyecto.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4652AA0-B1D8-44EC-8E46-9E0ACA9B4D58}"/>
              </a:ext>
            </a:extLst>
          </p:cNvPr>
          <p:cNvSpPr txBox="1"/>
          <p:nvPr/>
        </p:nvSpPr>
        <p:spPr>
          <a:xfrm>
            <a:off x="6049088" y="3333983"/>
            <a:ext cx="487679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 financiar el resto del dinero hemos optado por acceder a un préstamo Ico de 10.000,00€. Gracias a el tendremos todo el capital necesario para iniciar nuestra empresa.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2A1D72A2-10F1-4E8A-914E-F2F065A63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9957" y="1020595"/>
            <a:ext cx="1886214" cy="1494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5045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5B159C-E832-4C52-BB27-A1434416F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9. Contabilidad financiera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8F873C5-1D51-4F2C-9FB1-5519C890F06F}"/>
              </a:ext>
            </a:extLst>
          </p:cNvPr>
          <p:cNvSpPr txBox="1"/>
          <p:nvPr/>
        </p:nvSpPr>
        <p:spPr>
          <a:xfrm>
            <a:off x="641683" y="1959736"/>
            <a:ext cx="73633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Gracias a este apartado, podremos conocer los informes de todas las transacciones financieras pertenecientes al negocio.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CD2CFB9-84D3-4F9F-8E09-9DDC5A213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4043" y="2768064"/>
            <a:ext cx="5093368" cy="37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970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25A224-E0DE-4FC4-BFE2-156D17A09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9.1. balance y situación financiera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8ABAFA81-21E5-4B50-946B-F2C48122D72B}"/>
              </a:ext>
            </a:extLst>
          </p:cNvPr>
          <p:cNvCxnSpPr/>
          <p:nvPr/>
        </p:nvCxnSpPr>
        <p:spPr>
          <a:xfrm>
            <a:off x="5575846" y="1695165"/>
            <a:ext cx="0" cy="43634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9CA60E26-92D3-4AB0-8298-F796E8CC48CF}"/>
              </a:ext>
            </a:extLst>
          </p:cNvPr>
          <p:cNvCxnSpPr>
            <a:cxnSpLocks/>
          </p:cNvCxnSpPr>
          <p:nvPr/>
        </p:nvCxnSpPr>
        <p:spPr>
          <a:xfrm flipH="1" flipV="1">
            <a:off x="866274" y="2057964"/>
            <a:ext cx="9657348" cy="7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7ED8DE7D-E352-48EF-B7B8-2B088DB0D83F}"/>
              </a:ext>
            </a:extLst>
          </p:cNvPr>
          <p:cNvCxnSpPr>
            <a:cxnSpLocks/>
          </p:cNvCxnSpPr>
          <p:nvPr/>
        </p:nvCxnSpPr>
        <p:spPr>
          <a:xfrm flipH="1" flipV="1">
            <a:off x="866274" y="2475782"/>
            <a:ext cx="9657348" cy="161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60AD372D-CA38-4563-BD48-B33ED68765F2}"/>
              </a:ext>
            </a:extLst>
          </p:cNvPr>
          <p:cNvCxnSpPr>
            <a:cxnSpLocks/>
          </p:cNvCxnSpPr>
          <p:nvPr/>
        </p:nvCxnSpPr>
        <p:spPr>
          <a:xfrm flipH="1">
            <a:off x="5575846" y="5260761"/>
            <a:ext cx="4947774" cy="214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2EA236CA-A17A-43BE-916D-2901121C5D07}"/>
              </a:ext>
            </a:extLst>
          </p:cNvPr>
          <p:cNvCxnSpPr>
            <a:cxnSpLocks/>
          </p:cNvCxnSpPr>
          <p:nvPr/>
        </p:nvCxnSpPr>
        <p:spPr>
          <a:xfrm flipH="1">
            <a:off x="866274" y="4537269"/>
            <a:ext cx="965734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6873370E-F9F0-4C42-AD03-63DC75A29E01}"/>
              </a:ext>
            </a:extLst>
          </p:cNvPr>
          <p:cNvCxnSpPr>
            <a:cxnSpLocks/>
          </p:cNvCxnSpPr>
          <p:nvPr/>
        </p:nvCxnSpPr>
        <p:spPr>
          <a:xfrm flipH="1">
            <a:off x="866276" y="6263695"/>
            <a:ext cx="9657344" cy="211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38C20BA3-4E04-4D80-BD37-F901FCEB5A4F}"/>
              </a:ext>
            </a:extLst>
          </p:cNvPr>
          <p:cNvCxnSpPr>
            <a:cxnSpLocks/>
          </p:cNvCxnSpPr>
          <p:nvPr/>
        </p:nvCxnSpPr>
        <p:spPr>
          <a:xfrm flipH="1">
            <a:off x="843425" y="4860651"/>
            <a:ext cx="9680195" cy="63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63D69766-8C95-4022-A83B-ABBCF53BE19C}"/>
              </a:ext>
            </a:extLst>
          </p:cNvPr>
          <p:cNvCxnSpPr>
            <a:cxnSpLocks/>
          </p:cNvCxnSpPr>
          <p:nvPr/>
        </p:nvCxnSpPr>
        <p:spPr>
          <a:xfrm>
            <a:off x="5575846" y="2724509"/>
            <a:ext cx="0" cy="39372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DAA3D76C-61A5-4444-B8F2-0F21560D7D56}"/>
              </a:ext>
            </a:extLst>
          </p:cNvPr>
          <p:cNvCxnSpPr>
            <a:cxnSpLocks/>
          </p:cNvCxnSpPr>
          <p:nvPr/>
        </p:nvCxnSpPr>
        <p:spPr>
          <a:xfrm flipH="1">
            <a:off x="5575847" y="5598696"/>
            <a:ext cx="494777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E2A78460-FD2F-4EA8-B527-2F5336D99B4D}"/>
              </a:ext>
            </a:extLst>
          </p:cNvPr>
          <p:cNvSpPr txBox="1"/>
          <p:nvPr/>
        </p:nvSpPr>
        <p:spPr>
          <a:xfrm>
            <a:off x="705855" y="1638071"/>
            <a:ext cx="42603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s-E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ACTIVO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0CF8FF1-BAE0-4B1C-8316-D5B85E36A567}"/>
              </a:ext>
            </a:extLst>
          </p:cNvPr>
          <p:cNvSpPr txBox="1"/>
          <p:nvPr/>
        </p:nvSpPr>
        <p:spPr>
          <a:xfrm>
            <a:off x="5319171" y="1644425"/>
            <a:ext cx="50600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s-E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PATRIMONIO NETO + PASIVO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CF0662FE-06D2-4278-B085-5F9E9D67EC22}"/>
              </a:ext>
            </a:extLst>
          </p:cNvPr>
          <p:cNvSpPr txBox="1"/>
          <p:nvPr/>
        </p:nvSpPr>
        <p:spPr>
          <a:xfrm>
            <a:off x="385015" y="2075672"/>
            <a:ext cx="52229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s-E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ACTIVO NO CORRIENTE      6.092,21€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22735C32-AD6E-4173-AC15-61D72B08B07E}"/>
              </a:ext>
            </a:extLst>
          </p:cNvPr>
          <p:cNvSpPr txBox="1"/>
          <p:nvPr/>
        </p:nvSpPr>
        <p:spPr>
          <a:xfrm>
            <a:off x="5319171" y="2065114"/>
            <a:ext cx="52044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s-E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PATRIMONIO NETO            8.000,00€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427C32B0-AD7C-4DDD-80DD-DE22A5C82204}"/>
              </a:ext>
            </a:extLst>
          </p:cNvPr>
          <p:cNvSpPr txBox="1"/>
          <p:nvPr/>
        </p:nvSpPr>
        <p:spPr>
          <a:xfrm>
            <a:off x="866274" y="2520242"/>
            <a:ext cx="564681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s-ES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 Intangible:</a:t>
            </a:r>
          </a:p>
          <a:p>
            <a:pPr marL="1257300" lvl="2" indent="-342900" algn="just">
              <a:buFont typeface="Wingdings" panose="05000000000000000000" pitchFamily="2" charset="2"/>
              <a:buChar char="Ø"/>
            </a:pP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Patente                    		   144,00€</a:t>
            </a:r>
          </a:p>
          <a:p>
            <a:pPr marL="1257300" lvl="2" indent="-342900" algn="just">
              <a:buFont typeface="Wingdings" panose="05000000000000000000" pitchFamily="2" charset="2"/>
              <a:buChar char="Ø"/>
            </a:pP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                   	              97,55€</a:t>
            </a:r>
          </a:p>
          <a:p>
            <a:pPr marL="1257300" lvl="2" indent="-342900" algn="just">
              <a:buFont typeface="Wingdings" panose="05000000000000000000" pitchFamily="2" charset="2"/>
              <a:buChar char="Ø"/>
            </a:pP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Gastos de constitución 	         3.000,00€</a:t>
            </a:r>
          </a:p>
          <a:p>
            <a:pPr marL="1257300" lvl="2" indent="-342900" algn="just">
              <a:buFont typeface="Wingdings" panose="05000000000000000000" pitchFamily="2" charset="2"/>
              <a:buChar char="Ø"/>
            </a:pP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Gastos de notaría	 	         1.000,00€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s-ES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 Material:</a:t>
            </a:r>
          </a:p>
          <a:p>
            <a:pPr marL="1257300" lvl="2" indent="-342900" algn="just">
              <a:buFont typeface="Wingdings" panose="05000000000000000000" pitchFamily="2" charset="2"/>
              <a:buChar char="Ø"/>
            </a:pP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Equipos informáticos            1.794,56€</a:t>
            </a:r>
          </a:p>
          <a:p>
            <a:pPr marL="1257300" lvl="2" indent="-342900" algn="just">
              <a:buFont typeface="Wingdings" panose="05000000000000000000" pitchFamily="2" charset="2"/>
              <a:buChar char="Ø"/>
            </a:pP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 de oficina                     56,10€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C7AF43CA-45E1-467B-ADC9-E0370F2F5545}"/>
              </a:ext>
            </a:extLst>
          </p:cNvPr>
          <p:cNvSpPr txBox="1"/>
          <p:nvPr/>
        </p:nvSpPr>
        <p:spPr>
          <a:xfrm>
            <a:off x="5319170" y="2620273"/>
            <a:ext cx="50600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Capital Social                                       8.000,00€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3E63ABA2-26C2-472D-A4DB-8580DA6F7528}"/>
              </a:ext>
            </a:extLst>
          </p:cNvPr>
          <p:cNvSpPr txBox="1"/>
          <p:nvPr/>
        </p:nvSpPr>
        <p:spPr>
          <a:xfrm>
            <a:off x="320847" y="4504856"/>
            <a:ext cx="52229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s-E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ACTIVO CORRIENTE               598,06€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CBAF19B6-2A2C-4446-9D01-62EBD741ABFA}"/>
              </a:ext>
            </a:extLst>
          </p:cNvPr>
          <p:cNvSpPr txBox="1"/>
          <p:nvPr/>
        </p:nvSpPr>
        <p:spPr>
          <a:xfrm>
            <a:off x="5319171" y="4494298"/>
            <a:ext cx="55986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s-E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PASIVO NO CORRIENTE       10.000,00€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388A825B-5C11-4338-B0F1-C5A4DC3C2142}"/>
              </a:ext>
            </a:extLst>
          </p:cNvPr>
          <p:cNvSpPr txBox="1"/>
          <p:nvPr/>
        </p:nvSpPr>
        <p:spPr>
          <a:xfrm>
            <a:off x="5319169" y="4891429"/>
            <a:ext cx="5060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Deudas Entidades Bancarias l/p 10.000,00€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EDF53523-A208-4BD0-9523-FF77B9C87724}"/>
              </a:ext>
            </a:extLst>
          </p:cNvPr>
          <p:cNvSpPr txBox="1"/>
          <p:nvPr/>
        </p:nvSpPr>
        <p:spPr>
          <a:xfrm>
            <a:off x="705855" y="4870710"/>
            <a:ext cx="559869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s-ES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Existencias: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s-ES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Realizable: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s-ES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Disponible:</a:t>
            </a:r>
          </a:p>
          <a:p>
            <a:pPr marL="1257300" lvl="2" indent="-342900" algn="just">
              <a:buFont typeface="Wingdings" panose="05000000000000000000" pitchFamily="2" charset="2"/>
              <a:buChar char="Ø"/>
            </a:pP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Banco                                           598,06€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B9C3B033-9FC1-431E-ABCF-EE2E1E5052CC}"/>
              </a:ext>
            </a:extLst>
          </p:cNvPr>
          <p:cNvSpPr txBox="1"/>
          <p:nvPr/>
        </p:nvSpPr>
        <p:spPr>
          <a:xfrm>
            <a:off x="5319169" y="5255886"/>
            <a:ext cx="55986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s-E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PASIVO CORRIENTE              4.620,00€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A9792C31-6AE5-40DF-BFF3-72084E300C41}"/>
              </a:ext>
            </a:extLst>
          </p:cNvPr>
          <p:cNvSpPr txBox="1"/>
          <p:nvPr/>
        </p:nvSpPr>
        <p:spPr>
          <a:xfrm>
            <a:off x="5391363" y="5678920"/>
            <a:ext cx="50600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Deudas bufete abogados c/p                2.400,00€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Proveedores de servidores c/p             2.220,00€</a:t>
            </a:r>
          </a:p>
        </p:txBody>
      </p: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84C33491-C4DB-4F6C-AA70-EC0668242E96}"/>
              </a:ext>
            </a:extLst>
          </p:cNvPr>
          <p:cNvCxnSpPr>
            <a:cxnSpLocks/>
          </p:cNvCxnSpPr>
          <p:nvPr/>
        </p:nvCxnSpPr>
        <p:spPr>
          <a:xfrm flipH="1">
            <a:off x="890340" y="6640683"/>
            <a:ext cx="9657344" cy="211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CuadroTexto 57">
            <a:extLst>
              <a:ext uri="{FF2B5EF4-FFF2-40B4-BE49-F238E27FC236}">
                <a16:creationId xmlns:a16="http://schemas.microsoft.com/office/drawing/2014/main" id="{F9A3AC44-F986-4D04-A9C2-A5BDC5C24BBF}"/>
              </a:ext>
            </a:extLst>
          </p:cNvPr>
          <p:cNvSpPr txBox="1"/>
          <p:nvPr/>
        </p:nvSpPr>
        <p:spPr>
          <a:xfrm>
            <a:off x="437152" y="6269380"/>
            <a:ext cx="52229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s-E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                                       6.690,97€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75B0AF57-EA32-4726-80E5-E2366A7EA323}"/>
              </a:ext>
            </a:extLst>
          </p:cNvPr>
          <p:cNvSpPr txBox="1"/>
          <p:nvPr/>
        </p:nvSpPr>
        <p:spPr>
          <a:xfrm>
            <a:off x="5228512" y="6262233"/>
            <a:ext cx="52229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s-E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                                       22.620,00€</a:t>
            </a:r>
          </a:p>
        </p:txBody>
      </p:sp>
    </p:spTree>
    <p:extLst>
      <p:ext uri="{BB962C8B-B14F-4D97-AF65-F5344CB8AC3E}">
        <p14:creationId xmlns:p14="http://schemas.microsoft.com/office/powerpoint/2010/main" val="38828710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2A367C-D905-4B83-B733-B515D145B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/>
          <a:lstStyle/>
          <a:p>
            <a:r>
              <a:rPr lang="es-ES" dirty="0"/>
              <a:t>9.2. PLAN ECONÓMICO Y FINANCIERO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AC166DE4-6972-4709-991F-B8560547F4BA}"/>
                  </a:ext>
                </a:extLst>
              </p:cNvPr>
              <p:cNvSpPr txBox="1"/>
              <p:nvPr/>
            </p:nvSpPr>
            <p:spPr>
              <a:xfrm>
                <a:off x="1109327" y="2097088"/>
                <a:ext cx="1044074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ES" sz="2400" i="1" smtClean="0">
                        <a:latin typeface="Cambria Math" panose="02040503050406030204" pitchFamily="18" charset="0"/>
                      </a:rPr>
                      <m:t>𝐹𝑜𝑛𝑑𝑜</m:t>
                    </m:r>
                    <m:r>
                      <a:rPr lang="es-ES" sz="240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400" i="1" smtClean="0">
                        <a:latin typeface="Cambria Math" panose="02040503050406030204" pitchFamily="18" charset="0"/>
                      </a:rPr>
                      <m:t>𝑑𝑒</m:t>
                    </m:r>
                    <m:r>
                      <a:rPr lang="es-ES" sz="240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400" i="1" smtClean="0">
                        <a:latin typeface="Cambria Math" panose="02040503050406030204" pitchFamily="18" charset="0"/>
                      </a:rPr>
                      <m:t>𝑚𝑎𝑛𝑖𝑜𝑏𝑟𝑎</m:t>
                    </m:r>
                    <m:r>
                      <a:rPr lang="es-ES" sz="24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400" i="1" smtClean="0">
                        <a:latin typeface="Cambria Math" panose="02040503050406030204" pitchFamily="18" charset="0"/>
                      </a:rPr>
                      <m:t>𝐴𝐶</m:t>
                    </m:r>
                    <m:r>
                      <a:rPr lang="es-ES" sz="240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sz="2400" i="1" smtClean="0">
                        <a:latin typeface="Cambria Math" panose="02040503050406030204" pitchFamily="18" charset="0"/>
                      </a:rPr>
                      <m:t>𝑃𝐶</m:t>
                    </m:r>
                    <m:r>
                      <a:rPr lang="es-ES" sz="2400" i="1" smtClean="0">
                        <a:latin typeface="Cambria Math" panose="02040503050406030204" pitchFamily="18" charset="0"/>
                      </a:rPr>
                      <m:t>=598.06€−4620.00€= −4.021.94€&gt;0</m:t>
                    </m:r>
                  </m:oMath>
                </a14:m>
                <a:endParaRPr lang="es-ES" sz="2400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AC166DE4-6972-4709-991F-B8560547F4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327" y="2097088"/>
                <a:ext cx="10440743" cy="369332"/>
              </a:xfrm>
              <a:prstGeom prst="rect">
                <a:avLst/>
              </a:prstGeom>
              <a:blipFill>
                <a:blip r:embed="rId2"/>
                <a:stretch>
                  <a:fillRect l="-1693" t="-19672" b="-4262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>
                <a:extLst>
                  <a:ext uri="{FF2B5EF4-FFF2-40B4-BE49-F238E27FC236}">
                    <a16:creationId xmlns:a16="http://schemas.microsoft.com/office/drawing/2014/main" id="{B372CFF6-EC96-4BCB-97B7-0BF05659D3F9}"/>
                  </a:ext>
                </a:extLst>
              </p:cNvPr>
              <p:cNvSpPr/>
              <p:nvPr/>
            </p:nvSpPr>
            <p:spPr>
              <a:xfrm>
                <a:off x="984925" y="2938762"/>
                <a:ext cx="6160276" cy="6264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ES" sz="2400" i="1">
                        <a:latin typeface="Cambria Math" panose="02040503050406030204" pitchFamily="18" charset="0"/>
                      </a:rPr>
                      <m:t>𝑅𝑎𝑡𝑖𝑜</m:t>
                    </m:r>
                    <m:r>
                      <a:rPr lang="es-ES" sz="2400" i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400" i="1">
                        <a:latin typeface="Cambria Math" panose="02040503050406030204" pitchFamily="18" charset="0"/>
                      </a:rPr>
                      <m:t>𝑑𝑒</m:t>
                    </m:r>
                    <m:r>
                      <a:rPr lang="es-ES" sz="2400" i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400" i="1">
                        <a:latin typeface="Cambria Math" panose="02040503050406030204" pitchFamily="18" charset="0"/>
                      </a:rPr>
                      <m:t>𝑙𝑖𝑞𝑢𝑖𝑑𝑒𝑧</m:t>
                    </m:r>
                    <m:r>
                      <a:rPr lang="es-ES" sz="2400" i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s-E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400" i="1">
                            <a:latin typeface="Cambria Math" panose="02040503050406030204" pitchFamily="18" charset="0"/>
                          </a:rPr>
                          <m:t>𝐴𝐶</m:t>
                        </m:r>
                      </m:num>
                      <m:den>
                        <m:r>
                          <a:rPr lang="es-ES" sz="2400" i="1">
                            <a:latin typeface="Cambria Math" panose="02040503050406030204" pitchFamily="18" charset="0"/>
                          </a:rPr>
                          <m:t>𝑃𝐶</m:t>
                        </m:r>
                      </m:den>
                    </m:f>
                    <m:r>
                      <a:rPr lang="es-ES" sz="2400" i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s-E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400" i="0">
                            <a:latin typeface="Cambria Math" panose="02040503050406030204" pitchFamily="18" charset="0"/>
                          </a:rPr>
                          <m:t>598.06€</m:t>
                        </m:r>
                      </m:num>
                      <m:den>
                        <m:r>
                          <a:rPr lang="es-ES" sz="2400" i="0">
                            <a:latin typeface="Cambria Math" panose="02040503050406030204" pitchFamily="18" charset="0"/>
                          </a:rPr>
                          <m:t>4620.00€</m:t>
                        </m:r>
                      </m:den>
                    </m:f>
                    <m:r>
                      <a:rPr lang="es-ES" sz="2400" i="0">
                        <a:latin typeface="Cambria Math" panose="02040503050406030204" pitchFamily="18" charset="0"/>
                      </a:rPr>
                      <m:t>=0.129</m:t>
                    </m:r>
                  </m:oMath>
                </a14:m>
                <a:endParaRPr lang="es-ES" dirty="0"/>
              </a:p>
            </p:txBody>
          </p:sp>
        </mc:Choice>
        <mc:Fallback xmlns="">
          <p:sp>
            <p:nvSpPr>
              <p:cNvPr id="5" name="Rectángulo 4">
                <a:extLst>
                  <a:ext uri="{FF2B5EF4-FFF2-40B4-BE49-F238E27FC236}">
                    <a16:creationId xmlns:a16="http://schemas.microsoft.com/office/drawing/2014/main" id="{B372CFF6-EC96-4BCB-97B7-0BF05659D3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925" y="2938762"/>
                <a:ext cx="6160276" cy="6264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1BD46E46-78BA-4FA5-B369-9E531765FE27}"/>
              </a:ext>
            </a:extLst>
          </p:cNvPr>
          <p:cNvCxnSpPr>
            <a:cxnSpLocks/>
          </p:cNvCxnSpPr>
          <p:nvPr/>
        </p:nvCxnSpPr>
        <p:spPr>
          <a:xfrm>
            <a:off x="7743391" y="3167940"/>
            <a:ext cx="23470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 de texto 2">
            <a:extLst>
              <a:ext uri="{FF2B5EF4-FFF2-40B4-BE49-F238E27FC236}">
                <a16:creationId xmlns:a16="http://schemas.microsoft.com/office/drawing/2014/main" id="{CCB166D4-7453-41DB-9AD9-C0F7FFD8F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5603" y="3147954"/>
            <a:ext cx="258445" cy="275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16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" name="Cuadro de texto 2">
            <a:extLst>
              <a:ext uri="{FF2B5EF4-FFF2-40B4-BE49-F238E27FC236}">
                <a16:creationId xmlns:a16="http://schemas.microsoft.com/office/drawing/2014/main" id="{7A3FD054-CBFD-473E-A418-DACEB1736A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69200" y="3162559"/>
            <a:ext cx="258445" cy="30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B302E7F8-20E1-4E71-9145-31C6B72E9A83}"/>
              </a:ext>
            </a:extLst>
          </p:cNvPr>
          <p:cNvSpPr/>
          <p:nvPr/>
        </p:nvSpPr>
        <p:spPr>
          <a:xfrm>
            <a:off x="7683066" y="3143827"/>
            <a:ext cx="60325" cy="603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ES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244C03F5-061E-4526-99A1-A8F133BC6F0A}"/>
              </a:ext>
            </a:extLst>
          </p:cNvPr>
          <p:cNvSpPr/>
          <p:nvPr/>
        </p:nvSpPr>
        <p:spPr>
          <a:xfrm>
            <a:off x="10076697" y="3141763"/>
            <a:ext cx="60325" cy="603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ángulo 11">
                <a:extLst>
                  <a:ext uri="{FF2B5EF4-FFF2-40B4-BE49-F238E27FC236}">
                    <a16:creationId xmlns:a16="http://schemas.microsoft.com/office/drawing/2014/main" id="{8670B844-95D4-4DB7-ADA5-A06AE7E67650}"/>
                  </a:ext>
                </a:extLst>
              </p:cNvPr>
              <p:cNvSpPr/>
              <p:nvPr/>
            </p:nvSpPr>
            <p:spPr>
              <a:xfrm>
                <a:off x="985319" y="3946364"/>
                <a:ext cx="8983881" cy="6299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ES" sz="2400" i="1">
                        <a:latin typeface="Cambria Math" panose="02040503050406030204" pitchFamily="18" charset="0"/>
                      </a:rPr>
                      <m:t>𝑅𝑎𝑡𝑖𝑜</m:t>
                    </m:r>
                    <m:r>
                      <a:rPr lang="es-ES" sz="2400" i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400" i="1">
                        <a:latin typeface="Cambria Math" panose="02040503050406030204" pitchFamily="18" charset="0"/>
                      </a:rPr>
                      <m:t>𝑑𝑒</m:t>
                    </m:r>
                    <m:r>
                      <a:rPr lang="es-ES" sz="2400" i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400" i="1">
                        <a:latin typeface="Cambria Math" panose="02040503050406030204" pitchFamily="18" charset="0"/>
                      </a:rPr>
                      <m:t>𝑒𝑛𝑑𝑒𝑢𝑑𝑎𝑚𝑖𝑒𝑛𝑡𝑜</m:t>
                    </m:r>
                    <m:r>
                      <a:rPr lang="es-ES" sz="2400" i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s-E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400" i="1">
                            <a:latin typeface="Cambria Math" panose="02040503050406030204" pitchFamily="18" charset="0"/>
                          </a:rPr>
                          <m:t>𝑃𝑎𝑠𝑖𝑣𝑜</m:t>
                        </m:r>
                      </m:num>
                      <m:den>
                        <m:r>
                          <a:rPr lang="es-ES" sz="2400" i="1">
                            <a:latin typeface="Cambria Math" panose="02040503050406030204" pitchFamily="18" charset="0"/>
                          </a:rPr>
                          <m:t>𝑃𝑎𝑠𝑖𝑣𝑜</m:t>
                        </m:r>
                        <m:r>
                          <a:rPr lang="es-ES" sz="24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ES" sz="2400" i="1">
                            <a:latin typeface="Cambria Math" panose="02040503050406030204" pitchFamily="18" charset="0"/>
                          </a:rPr>
                          <m:t>𝑃𝑁</m:t>
                        </m:r>
                      </m:den>
                    </m:f>
                    <m:r>
                      <a:rPr lang="es-ES" sz="2400" i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s-E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400" i="0">
                            <a:latin typeface="Cambria Math" panose="02040503050406030204" pitchFamily="18" charset="0"/>
                          </a:rPr>
                          <m:t>14620.00€</m:t>
                        </m:r>
                      </m:num>
                      <m:den>
                        <m:r>
                          <a:rPr lang="es-ES" sz="2400" i="0">
                            <a:latin typeface="Cambria Math" panose="02040503050406030204" pitchFamily="18" charset="0"/>
                          </a:rPr>
                          <m:t>22620.00€</m:t>
                        </m:r>
                      </m:den>
                    </m:f>
                    <m:r>
                      <a:rPr lang="es-ES" sz="2400" i="0">
                        <a:latin typeface="Cambria Math" panose="02040503050406030204" pitchFamily="18" charset="0"/>
                      </a:rPr>
                      <m:t>=0.646</m:t>
                    </m:r>
                  </m:oMath>
                </a14:m>
                <a:endParaRPr lang="es-ES" sz="2400" dirty="0"/>
              </a:p>
            </p:txBody>
          </p:sp>
        </mc:Choice>
        <mc:Fallback xmlns="">
          <p:sp>
            <p:nvSpPr>
              <p:cNvPr id="12" name="Rectángulo 11">
                <a:extLst>
                  <a:ext uri="{FF2B5EF4-FFF2-40B4-BE49-F238E27FC236}">
                    <a16:creationId xmlns:a16="http://schemas.microsoft.com/office/drawing/2014/main" id="{8670B844-95D4-4DB7-ADA5-A06AE7E676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319" y="3946364"/>
                <a:ext cx="8983881" cy="6299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Imagen 13">
            <a:extLst>
              <a:ext uri="{FF2B5EF4-FFF2-40B4-BE49-F238E27FC236}">
                <a16:creationId xmlns:a16="http://schemas.microsoft.com/office/drawing/2014/main" id="{AECA5889-1D46-4D4D-A69D-95628FD501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8108" y="4682032"/>
            <a:ext cx="2109537" cy="2109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4425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B96B35-5A62-4DBA-B21D-D2001066B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10216398" cy="1478570"/>
          </a:xfrm>
        </p:spPr>
        <p:txBody>
          <a:bodyPr/>
          <a:lstStyle/>
          <a:p>
            <a:r>
              <a:rPr lang="es-ES" dirty="0"/>
              <a:t>10. FORMA JURÍDICA Y TRÁMITES DE CONSTITUCIÓN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A546218-513E-4881-B16C-349938B4571F}"/>
              </a:ext>
            </a:extLst>
          </p:cNvPr>
          <p:cNvSpPr txBox="1"/>
          <p:nvPr/>
        </p:nvSpPr>
        <p:spPr>
          <a:xfrm>
            <a:off x="641684" y="1959737"/>
            <a:ext cx="107161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s-E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 jurídica: S.L.</a:t>
            </a:r>
          </a:p>
          <a:p>
            <a:pPr lvl="1" algn="just"/>
            <a:endParaRPr lang="es-E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Protección del patrimonio personal.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División del capital en participaciones.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Capital Inicial mínimo: 3.000,00€. Suscrito y desembolsado en el momento de la constitución.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Carácter mercantil de la empresa.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A3446F2-1454-4028-810E-ECD77859C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6652" y="3429000"/>
            <a:ext cx="4356570" cy="396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9338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384078-E20E-4AE3-8A78-EAFC92C0B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10.1. Trámites de constitución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8BD06A2-EB6D-4FCF-8E76-77B64038E70C}"/>
              </a:ext>
            </a:extLst>
          </p:cNvPr>
          <p:cNvSpPr txBox="1"/>
          <p:nvPr/>
        </p:nvSpPr>
        <p:spPr>
          <a:xfrm>
            <a:off x="641684" y="1959737"/>
            <a:ext cx="1071612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s-E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Elementos que aportan personalidad jurídica.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Presentar certificación negativa de nombre.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Redactar y elevar a pública la escritura de constitución de la sociedad.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Inscripción en el Registro Mercantil.</a:t>
            </a:r>
          </a:p>
          <a:p>
            <a:pPr lvl="1" algn="just"/>
            <a:endParaRPr lang="es-E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s-E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Trámites con la Hacienda Pública.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Declaración Censal.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Solicitud del NIF.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6DC2A55-FD31-459E-B5C2-A46B7BAD7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3866" y="3814009"/>
            <a:ext cx="2761607" cy="2761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1609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188</TotalTime>
  <Words>818</Words>
  <Application>Microsoft Office PowerPoint</Application>
  <PresentationFormat>Panorámica</PresentationFormat>
  <Paragraphs>153</Paragraphs>
  <Slides>24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32" baseType="lpstr">
      <vt:lpstr>Arial</vt:lpstr>
      <vt:lpstr>Calibri</vt:lpstr>
      <vt:lpstr>Cambria Math</vt:lpstr>
      <vt:lpstr>Times New Roman</vt:lpstr>
      <vt:lpstr>Trebuchet MS</vt:lpstr>
      <vt:lpstr>Tw Cen MT</vt:lpstr>
      <vt:lpstr>Wingdings</vt:lpstr>
      <vt:lpstr>Circuito</vt:lpstr>
      <vt:lpstr>VIRTUAL WALLET</vt:lpstr>
      <vt:lpstr>1. Descripción de la idea emprendedora y el proyecto.</vt:lpstr>
      <vt:lpstr>2. Presentación de los promotores.</vt:lpstr>
      <vt:lpstr>3. CULTURA EMPRESARIAL.</vt:lpstr>
      <vt:lpstr>4. Responsabilidad social.</vt:lpstr>
      <vt:lpstr>5. Estudio de mercado.</vt:lpstr>
      <vt:lpstr>5.1. DAFO</vt:lpstr>
      <vt:lpstr>6. PLAN DE MARKETING</vt:lpstr>
      <vt:lpstr>6.1. REDES SOCIALES</vt:lpstr>
      <vt:lpstr>6.2. TARJETA DE VISITA</vt:lpstr>
      <vt:lpstr>6.3. MERCHANDISING</vt:lpstr>
      <vt:lpstr>6.4. PÁGINA WEB</vt:lpstr>
      <vt:lpstr>7. PLAN DE INVERSIÓN Y GASTOS</vt:lpstr>
      <vt:lpstr>7.1. Inversiones</vt:lpstr>
      <vt:lpstr>7.2. GASTOS</vt:lpstr>
      <vt:lpstr>7.3. CAPITAL NECESARIO</vt:lpstr>
      <vt:lpstr>8. PLAN DE FINANCIACIÓN</vt:lpstr>
      <vt:lpstr>8.1. FUENTES DE FINANCIACIÓN PROPIAS</vt:lpstr>
      <vt:lpstr>8.2. FUENTES DE FINANCIACIÓN AJENAS</vt:lpstr>
      <vt:lpstr>9. Contabilidad financiera</vt:lpstr>
      <vt:lpstr>9.1. balance y situación financiera</vt:lpstr>
      <vt:lpstr>9.2. PLAN ECONÓMICO Y FINANCIERO</vt:lpstr>
      <vt:lpstr>10. FORMA JURÍDICA Y TRÁMITES DE CONSTITUCIÓN</vt:lpstr>
      <vt:lpstr>10.1. Trámites de constitución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 WALLET</dc:title>
  <dc:creator>Álvaro Cabello</dc:creator>
  <cp:lastModifiedBy>Álvaro Cabello</cp:lastModifiedBy>
  <cp:revision>24</cp:revision>
  <dcterms:created xsi:type="dcterms:W3CDTF">2021-05-17T15:36:34Z</dcterms:created>
  <dcterms:modified xsi:type="dcterms:W3CDTF">2021-05-17T18:46:00Z</dcterms:modified>
</cp:coreProperties>
</file>